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600" b="1" i="0">
                <a:solidFill>
                  <a:srgbClr val="E6A766"/>
                </a:solidFill>
                <a:latin typeface="Georgia"/>
              </a:rPr>
              <a:t>Su Chef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AF6F2"/>
                </a:solidFill>
                <a:latin typeface="Calibri"/>
              </a:rPr>
              <a:t>An AI cooking companion — powered by a two-crew CrewAI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B8B1A6"/>
                </a:solidFill>
                <a:latin typeface="Calibri"/>
              </a:rPr>
              <a:t>Final Project · AI Development &amp; Collaboration · Nate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The business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4008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0140D"/>
                </a:solidFill>
                <a:latin typeface="Calibri"/>
              </a:rPr>
              <a:t>Home cooks want to know, before they start: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200" b="1" i="1">
                <a:solidFill>
                  <a:srgbClr val="B4501F"/>
                </a:solidFill>
                <a:latin typeface="Georgia"/>
              </a:rPr>
              <a:t>“Is this a quick weeknight recipe, or a weekend project?”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0140D"/>
                </a:solidFill>
                <a:latin typeface="Calibri"/>
              </a:rPr>
              <a:t>So we predict whether a recipe is QUICK (≤ 45 minutes) or INVOLVED, from its structure — before any cooking begins.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A564A"/>
                </a:solidFill>
                <a:latin typeface="Calibri"/>
              </a:rPr>
              <a:t>Why not predict the rating? Because ratings are useless here — almost every recipe sits at ~4.9 (std 0.08). Cooking time has real, useful variance, so that is what we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737360"/>
            <a:ext cx="4114800" cy="34747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2011680"/>
            <a:ext cx="3566160" cy="2926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6A564A"/>
                </a:solidFill>
                <a:latin typeface="Calibri"/>
              </a:rPr>
              <a:t>Predict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B4501F"/>
                </a:solidFill>
                <a:latin typeface="Georgia"/>
              </a:rPr>
              <a:t>Quick  vs.  Involved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0140D"/>
                </a:solidFill>
                <a:latin typeface="Calibri"/>
              </a:rPr>
              <a:t>≤ 45 min            &gt; 45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0140D"/>
                </a:solidFill>
                <a:latin typeface="Calibri"/>
              </a:rPr>
              <a:t>Kaggle “food_recipes” — real recipes with ratings, times, ingredients and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7432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B4501F"/>
                </a:solidFill>
                <a:latin typeface="Georgia"/>
              </a:rPr>
              <a:t>8,009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A564A"/>
                </a:solidFill>
                <a:latin typeface="Calibri"/>
              </a:rPr>
              <a:t>raw recipes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2468880"/>
            <a:ext cx="27432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51611F"/>
                </a:solidFill>
                <a:latin typeface="Georgia"/>
              </a:rPr>
              <a:t>7,938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A564A"/>
                </a:solidFill>
                <a:latin typeface="Calibri"/>
              </a:rPr>
              <a:t>after cleaning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468880"/>
            <a:ext cx="27432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B4501F"/>
                </a:solidFill>
                <a:latin typeface="Georgia"/>
              </a:rPr>
              <a:t>16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A564A"/>
                </a:solidFill>
                <a:latin typeface="Calibri"/>
              </a:rPr>
              <a:t>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468880"/>
            <a:ext cx="27432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51611F"/>
                </a:solidFill>
                <a:latin typeface="Georgia"/>
              </a:rPr>
              <a:t>81%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A564A"/>
                </a:solidFill>
                <a:latin typeface="Calibri"/>
              </a:rPr>
              <a:t>vegetarian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97280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20140D"/>
                </a:solidFill>
                <a:latin typeface="Calibri"/>
              </a:rPr>
              <a:t>Key fields used: cuisine · course · diet · prep/cook time · ingredients · instructions · rating · vote_count.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20140D"/>
                </a:solidFill>
                <a:latin typeface="Calibri"/>
              </a:rPr>
              <a:t>Cleaning: parsed “15 M” → minutes, counted “|”-separated ingredients and steps, derived total time, normalised missing categories.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500" b="0" i="0">
                <a:solidFill>
                  <a:srgbClr val="20140D"/>
                </a:solidFill>
                <a:latin typeface="Calibri"/>
              </a:rPr>
              <a:t>Skews Indian home cooking — noted as a model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A766"/>
                </a:solidFill>
                <a:latin typeface="Georgia"/>
              </a:rPr>
              <a:t>Architecture: a CrewAI Flow with two crews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0515600" cy="132588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64207"/>
            <a:ext cx="100584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140D"/>
                </a:solidFill>
                <a:latin typeface="Georgia"/>
              </a:rPr>
              <a:t>Crew 1 — Recipe Analyst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140D"/>
                </a:solidFill>
                <a:latin typeface="Calibri"/>
              </a:rPr>
              <a:t>3 agents: Loader · EDA Analyst · Contract Author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4C3C"/>
                </a:solidFill>
                <a:latin typeface="Calibri"/>
              </a:rPr>
              <a:t>clean_data.csv · eda_report.html · insights.md · dataset_contract.json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0515600" cy="1325880"/>
          </a:xfrm>
          <a:prstGeom prst="round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218688"/>
            <a:ext cx="100584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140D"/>
                </a:solidFill>
                <a:latin typeface="Georgia"/>
              </a:rPr>
              <a:t>VALIDATION CHECKPOINT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140D"/>
                </a:solidFill>
                <a:latin typeface="Calibri"/>
              </a:rPr>
              <a:t>clean data must match the contract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4C3C"/>
                </a:solidFill>
                <a:latin typeface="Calibri"/>
              </a:rPr>
              <a:t>if it fails → the Flow halts gracefully, Crew 2 never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63440"/>
            <a:ext cx="10515600" cy="132588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73168"/>
            <a:ext cx="10058400" cy="10972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0140D"/>
                </a:solidFill>
                <a:latin typeface="Georgia"/>
              </a:rPr>
              <a:t>Crew 2 — Recipe Scientist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140D"/>
                </a:solidFill>
                <a:latin typeface="Calibri"/>
              </a:rPr>
              <a:t>3 agents: Feature Engineer · Trainer · Evaluator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4C3C"/>
                </a:solidFill>
                <a:latin typeface="Calibri"/>
              </a:rPr>
              <a:t>features.csv · model.pkl · evaluation_report.md · model_card.md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Crew 1 — what the data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389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B4501F"/>
                </a:solidFill>
                <a:latin typeface="Georgia"/>
              </a:rPr>
              <a:t>Exploratory analysis (eda_report.html)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20140D"/>
                </a:solidFill>
                <a:latin typeface="Calibri"/>
              </a:rPr>
              <a:t>Ratings are flat — ~4.9 for nearly every recipe, so they cannot be a useful target.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20140D"/>
                </a:solidFill>
                <a:latin typeface="Calibri"/>
              </a:rPr>
              <a:t>Median recipe takes ~40 minutes; times range from 5 to 600.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500" b="0" i="0">
                <a:solidFill>
                  <a:srgbClr val="20140D"/>
                </a:solidFill>
                <a:latin typeface="Calibri"/>
              </a:rPr>
              <a:t>Time is driven by HOW INVOLVED the method is — instruction length, time-cue words (marinate, soak, overnight, bake), and step count — more than ingredient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737360"/>
            <a:ext cx="5120640" cy="402336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965960"/>
            <a:ext cx="4572000" cy="3657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Correlation with total time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instruction length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1611F"/>
                </a:solidFill>
                <a:latin typeface="Calibri"/>
              </a:rPr>
              <a:t>0.20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time-cue words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1611F"/>
                </a:solidFill>
                <a:latin typeface="Calibri"/>
              </a:rPr>
              <a:t>0.18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number of steps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1611F"/>
                </a:solidFill>
                <a:latin typeface="Calibri"/>
              </a:rPr>
              <a:t>0.16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ingredient count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1611F"/>
                </a:solidFill>
                <a:latin typeface="Calibri"/>
              </a:rPr>
              <a:t>0.06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rating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51611F"/>
                </a:solidFill>
                <a:latin typeface="Calibri"/>
              </a:rPr>
              <a:t>-0.03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Crew 2 — the trained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0140D"/>
                </a:solidFill>
                <a:latin typeface="Calibri"/>
              </a:rPr>
              <a:t>Two classifiers trained and compared to predict “quick (≤45 min)?”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394960" cy="2194560"/>
          </a:xfrm>
          <a:prstGeom prst="round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0140D"/>
                </a:solidFill>
                <a:latin typeface="Georgia"/>
              </a:rPr>
              <a:t>LogisticRegression   ★ winner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Accuracy  0.70      F1  0.76      ROC-AUC  0.75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394960" cy="219456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46888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0140D"/>
                </a:solidFill>
                <a:latin typeface="Georgia"/>
              </a:rPr>
              <a:t>RandomForestClassifier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Accuracy  0.69      F1  0.75      ROC-AUC  0.75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A564A"/>
                </a:solidFill>
                <a:latin typeface="Calibri"/>
              </a:rPr>
              <a:t>Both beat the 0.60 majority-class baseline — the features carry real signal about how long a recipe takes. Honest limitation: ~70% accuracy, since cooking time is partly idiosyncratic (documented in model_card.md).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A766"/>
                </a:solidFill>
                <a:latin typeface="Georgia"/>
              </a:rPr>
              <a:t>The product: Su Chef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64592" cy="777240"/>
          </a:xfrm>
          <a:prstGeom prst="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100584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E6A766"/>
                </a:solidFill>
                <a:latin typeface="Georgia"/>
              </a:rPr>
              <a:t>One prompt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AF6F2"/>
                </a:solidFill>
                <a:latin typeface="Calibri"/>
              </a:rPr>
              <a:t>Ask anything mid-cook by voice (auto-stop) or typing; answers read aloud.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32888"/>
            <a:ext cx="164592" cy="777240"/>
          </a:xfrm>
          <a:prstGeom prst="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32888"/>
            <a:ext cx="100584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E6A766"/>
                </a:solidFill>
                <a:latin typeface="Georgia"/>
              </a:rPr>
              <a:t>Grounded answers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AF6F2"/>
                </a:solidFill>
                <a:latin typeface="Calibri"/>
              </a:rPr>
              <a:t>Every reply is backed by real recipes retrieved from the dataset (RAG).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465576"/>
            <a:ext cx="164592" cy="777240"/>
          </a:xfrm>
          <a:prstGeom prst="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65576"/>
            <a:ext cx="100584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E6A766"/>
                </a:solidFill>
                <a:latin typeface="Georgia"/>
              </a:rPr>
              <a:t>Recipe-builder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AF6F2"/>
                </a:solidFill>
                <a:latin typeface="Calibri"/>
              </a:rPr>
              <a:t>“Make me X” returns a full grounded recipe + a source link.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98264"/>
            <a:ext cx="164592" cy="777240"/>
          </a:xfrm>
          <a:prstGeom prst="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398264"/>
            <a:ext cx="100584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E6A766"/>
                </a:solidFill>
                <a:latin typeface="Georgia"/>
              </a:rPr>
              <a:t>Quick-or-involved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AF6F2"/>
                </a:solidFill>
                <a:latin typeface="Calibri"/>
              </a:rPr>
              <a:t>The trained model predicts how long that recipe will take.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330952"/>
            <a:ext cx="164592" cy="777240"/>
          </a:xfrm>
          <a:prstGeom prst="rect">
            <a:avLst/>
          </a:prstGeom>
          <a:solidFill>
            <a:srgbClr val="E6A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30952"/>
            <a:ext cx="100584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E6A766"/>
                </a:solidFill>
                <a:latin typeface="Georgia"/>
              </a:rPr>
              <a:t>Insights view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AF6F2"/>
                </a:solidFill>
                <a:latin typeface="Calibri"/>
              </a:rPr>
              <a:t>EDA report, a live prediction form, and the model card — in-app.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How the data project powers the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383280" cy="201168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292608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B4501F"/>
                </a:solidFill>
                <a:latin typeface="Georgia"/>
              </a:rPr>
              <a:t>Crew 1 + 2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0140D"/>
                </a:solidFill>
                <a:latin typeface="Calibri"/>
              </a:rPr>
              <a:t>clean recipes → trained model.pkl + EDA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3017520"/>
            <a:ext cx="502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01F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3383280" cy="201168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606040"/>
            <a:ext cx="292608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B4501F"/>
                </a:solidFill>
                <a:latin typeface="Georgia"/>
              </a:rPr>
              <a:t>RAG (BM25)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0140D"/>
                </a:solidFill>
                <a:latin typeface="Calibri"/>
              </a:rPr>
              <a:t>retrieves real recipes for every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017520"/>
            <a:ext cx="5029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B4501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377440"/>
            <a:ext cx="3383280" cy="201168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2606040"/>
            <a:ext cx="292608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B4501F"/>
                </a:solidFill>
                <a:latin typeface="Georgia"/>
              </a:rPr>
              <a:t>Companion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0140D"/>
                </a:solidFill>
                <a:latin typeface="Calibri"/>
              </a:rPr>
              <a:t>Claude answers, grounded; recipe-builder shows time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A564A"/>
                </a:solidFill>
                <a:latin typeface="Calibri"/>
              </a:rPr>
              <a:t>Same single input box: a quick question gets a short grounded answer; a “make me…” request gets a full recipe with a predicted quick/involved estimate. No extra screens.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CrewAI + Flows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two crews, @start/@listen/@router,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Python · pandas · scikit-learn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cleaning, features, model (Log.Reg vs RF)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matplotlib / seaborn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the EDA 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880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71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BM25 retrieval (RAG)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grounding, lightweight + deployable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Claude (Anthropic)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the companion's answers + agent reasoning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023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14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Streamlit + Cloud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the UI, deployed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66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Git + GitHub PRs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branches → reviewed pull requests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5166360"/>
            <a:ext cx="5394960" cy="960120"/>
          </a:xfrm>
          <a:prstGeom prst="roundRect">
            <a:avLst/>
          </a:prstGeom>
          <a:solidFill>
            <a:srgbClr val="EF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5257800"/>
            <a:ext cx="50292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B4501F"/>
                </a:solidFill>
                <a:latin typeface="Georgia"/>
              </a:rPr>
              <a:t>faster-whisper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140D"/>
                </a:solidFill>
                <a:latin typeface="Calibri"/>
              </a:rPr>
              <a:t>on-server voice transcription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B4501F"/>
                </a:solidFill>
                <a:latin typeface="Georgia"/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B4501F"/>
                </a:solidFill>
                <a:latin typeface="Georgia"/>
              </a:rPr>
              <a:t>Rating had no signal (all ~4.9)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Pivoted the target to a “quick vs involved” time classifier with real variance.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B4501F"/>
                </a:solidFill>
                <a:latin typeface="Georgia"/>
              </a:rPr>
              <a:t>Heavy pipeline deps (CrewAI, Chroma)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Run the Flow locally to produce artifacts; the deployed app stays lean and just reads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B4501F"/>
                </a:solidFill>
                <a:latin typeface="Georgia"/>
              </a:rPr>
              <a:t>Browser voice input broke in Chrome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Record audio + transcribe on-server (faster-whisper) so it works cross-browser and on phones.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9728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B4501F"/>
                </a:solidFill>
                <a:latin typeface="Georgia"/>
              </a:rPr>
              <a:t>Keeping it one simple app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20140D"/>
                </a:solidFill>
                <a:latin typeface="Calibri"/>
              </a:rPr>
              <a:t>The data layer hides behind one input box + an optional Insights 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E6A766"/>
                </a:solidFill>
                <a:latin typeface="Georgia"/>
              </a:rPr>
              <a:t>One app. Two layers.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FAF6F2"/>
                </a:solidFill>
                <a:latin typeface="Calibri"/>
              </a:rPr>
              <a:t>A genuinely useful cooking companion on top of a complete, reproducible two-crew CrewAI pipeline — grounded in real data, with a trained, documented model.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E6A766"/>
                </a:solidFill>
                <a:latin typeface="Calibri"/>
              </a:rPr>
              <a:t>suchef.streamlit.app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